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PROPERTY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Dproperty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&amp; Network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A boutique real estate operating platform for franchises, white-label agencies, and developer sales teams.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680960" cy="0"/>
          </a:xfrm>
          <a:prstGeom prst="line">
            <a:avLst/>
          </a:prstGeom>
          <a:noFill/>
          <a:ln w="25400">
            <a:solidFill>
              <a:srgbClr val="B89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6576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73152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5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branded franchises target by Year 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36576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3657600"/>
            <a:ext cx="73152" cy="123444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20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246120" y="420624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white-label agencies target by Year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36576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657600"/>
            <a:ext cx="73152" cy="1234440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15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0" y="420624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developer projects / year by Year 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09560" y="36576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3657600"/>
            <a:ext cx="73152" cy="1234440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37856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$2.32M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092440" y="420624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Year 5 revenue base case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57424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Prepared for internal discussion with Dproperty ownership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thesis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can turn its existing boutique real estate know-how into a scalable operating platform, without losing the boutique positioning that makes it different.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084832"/>
            <a:ext cx="502920" cy="502920"/>
          </a:xfrm>
          <a:prstGeom prst="arc">
            <a:avLst/>
          </a:prstGeom>
          <a:noFill/>
          <a:ln w="3175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Branded franchise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Operators use the Dproperty brand, method, Private Collection access, and HQ standards.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Brand + royalties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2084832"/>
            <a:ext cx="502920" cy="502920"/>
          </a:xfrm>
          <a:prstGeom prst="arc">
            <a:avLst/>
          </a:prstGeom>
          <a:noFill/>
          <a:ln w="31750">
            <a:solidFill>
              <a:srgbClr val="B89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White-label 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Boutique agencies keep their own brand but run on Dproperty’s operating system.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B5E"/>
                </a:solidFill>
              </a:rPr>
              <a:t>Recurring platform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2084832"/>
            <a:ext cx="502920" cy="502920"/>
          </a:xfrm>
          <a:prstGeom prst="arc">
            <a:avLst/>
          </a:prstGeom>
          <a:noFill/>
          <a:ln w="31750">
            <a:solidFill>
              <a:srgbClr val="4C7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Developer Sales 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7889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Developers use Dproperty to train, manage, and professionalize project sales teams.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5A"/>
                </a:solidFill>
              </a:rPr>
              <a:t>Project success fees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</a:rPr>
              <a:t>The core asset is not a CRM. It is a real estate operating method encoded into software, documents, workflows, training, and network access.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different for each buyer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Boutique agencies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They win through trust and taste, but internally run on WhatsApp, Excel, copied templates, and fragmented files.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2651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contracts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uncontrolled broker agreements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projection governance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B5E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Franchise operators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A logo is not enough. They need a machine: sales process, project access, documents, training, and dashboards.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4251960"/>
            <a:ext cx="2651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operating playbook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academy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unit economics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150876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5A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Developers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0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They can build projects but often lack trained sales teams, broker coordination, CRM discipline, and investor-ready presentations.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0" y="4251960"/>
            <a:ext cx="2651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pipeline visibility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sales discipline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broker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Dproperty OS turns know-how into a repeatable operating machine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becomes documents; documents move through approvals; signed files return to the archive; dashboards update automatically.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23160" y="3346704"/>
            <a:ext cx="950976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3346704"/>
            <a:ext cx="950976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3346704"/>
            <a:ext cx="950976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95360" y="3346704"/>
            <a:ext cx="950976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14884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Data layer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Clients, brokers, projects, units, deals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07792" y="214884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72384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Document layer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72384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NDAs, agreements, memos, projections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75504" y="214884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0096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Workflow layer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40096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Approvals, signatures, tasks, status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43216" y="214884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07808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Intelligence layer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07808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Search, summaries, QA, missing info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10928" y="214884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0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Network layer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875520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Private Collection, developers, franchises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Outcome: every franchise, agency, or developer team runs the same high-quality method — while HQ keeps control of standards, templates, inventory, and reporting.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product lines, one operating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835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Branded franchise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6080" y="15819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Owner-operators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5819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</a:rPr>
              <a:t> $15k setup + $1k/mo + 6% royalty + 1.5% network fee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26680" y="15819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F4E79"/>
                </a:solidFill>
              </a:rPr>
              <a:t>Brand + royalty + Private Collection split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85800" y="2377440"/>
            <a:ext cx="10835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377440"/>
            <a:ext cx="73152" cy="749808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White-label 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25420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Boutique agencies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542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</a:rPr>
              <a:t>$10k setup + $1.5k/mo starter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726680" y="2542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B89B5E"/>
                </a:solidFill>
              </a:rPr>
              <a:t>Recurring software / implementation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10835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337560"/>
            <a:ext cx="73152" cy="749808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02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Developer Sales 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26080" y="35021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New developers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502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</a:rPr>
              <a:t>0.5% on team sales + 2.5%–3% on network sales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726680" y="3502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4C7A5A"/>
                </a:solidFill>
              </a:rPr>
              <a:t>Project success fees + managed sales desk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22960" y="4572000"/>
            <a:ext cx="2286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572000"/>
            <a:ext cx="73152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7000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$135k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5840" y="5120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mature branded franchise annual revenue to HQ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0" y="4572000"/>
            <a:ext cx="2286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4572000"/>
            <a:ext cx="73152" cy="1078992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47000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$18k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840480" y="5120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white-label annual recurring revenue per starter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572000"/>
            <a:ext cx="2286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4572000"/>
            <a:ext cx="73152" cy="1078992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7000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$90k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675120" y="5120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average developer project revenue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26880" y="4572000"/>
            <a:ext cx="2286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6880" y="4572000"/>
            <a:ext cx="73152" cy="1078992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0" y="47000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$2.32M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509760" y="5120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Year 5 conservative revenue target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/ SAM / SOM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size: large category, niche initial capture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9875520" cy="777240"/>
          </a:xfrm>
          <a:prstGeom prst="trapezoid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755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$15.6B–$44.6B+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17190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 estate software and PropTech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2697480"/>
            <a:ext cx="8503920" cy="777240"/>
          </a:xfrm>
          <a:prstGeom prst="trapezoid">
            <a:avLst/>
          </a:prstGeom>
          <a:solidFill>
            <a:srgbClr val="B89B5E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$128M+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Operating/platform/franchise spend from LatAm premium residential commission pool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3840480"/>
            <a:ext cx="7132320" cy="777240"/>
          </a:xfrm>
          <a:prstGeom prst="trapezoid">
            <a:avLst/>
          </a:prstGeom>
          <a:solidFill>
            <a:srgbClr val="4C7A5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041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$2.32M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06440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 franchises + 20 white-label + 15 developer projects by Year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0167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Sources: Coherent Market Insights, Fortune Business Insights, Mordor Intelligence. SAM is a Dproperty estimate based on 1% of an implied LatAm residential commission pool.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now: boutique agencies need systems without becoming “big-box” franchises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Fragmentation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More channels, more brokers, more documents, more markets — but no unified execution layer.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251960"/>
            <a:ext cx="23774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Investor demand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Cross-border buyers need trust, projections, documents, and premium project curation.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4251960"/>
            <a:ext cx="2377440" cy="0"/>
          </a:xfrm>
          <a:prstGeom prst="line">
            <a:avLst/>
          </a:prstGeom>
          <a:noFill/>
          <a:ln w="25400">
            <a:solidFill>
              <a:srgbClr val="B89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60020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616"/>
                </a:solidFill>
              </a:rPr>
              <a:t>Developer pressure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Developers need sales infrastructure without hiring a full institutional sales department.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4251960"/>
            <a:ext cx="2377440" cy="0"/>
          </a:xfrm>
          <a:prstGeom prst="line">
            <a:avLst/>
          </a:prstGeom>
          <a:noFill/>
          <a:ln w="25400">
            <a:solidFill>
              <a:srgbClr val="4C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The opening: become the infrastructure layer behind premium, personal, boutique real estate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ECONOMICS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Branded franchise economics are viable at 5% commission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Local sale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5486400" cy="320040"/>
          </a:xfrm>
          <a:prstGeom prst="rect">
            <a:avLst/>
          </a:prstGeom>
          <a:solidFill>
            <a:srgbClr val="E5E1DA"/>
          </a:solidFill>
          <a:ln w="12700">
            <a:solidFill>
              <a:srgbClr val="E5E1D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737360"/>
            <a:ext cx="771525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$1,125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Private Collection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2971800"/>
            <a:ext cx="5486400" cy="320040"/>
          </a:xfrm>
          <a:prstGeom prst="rect">
            <a:avLst/>
          </a:prstGeom>
          <a:solidFill>
            <a:srgbClr val="E5E1DA"/>
          </a:solidFill>
          <a:ln w="12700">
            <a:solidFill>
              <a:srgbClr val="E5E1D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971800"/>
            <a:ext cx="5349240" cy="32004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953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B5E"/>
                </a:solidFill>
              </a:rPr>
              <a:t>$7,800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886200"/>
            <a:ext cx="10149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050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Assumption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68880" y="398678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50 units/year, $300k unit price, 5% commission = $750k GCI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68680" y="4453128"/>
            <a:ext cx="10149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7200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</a:rPr>
              <a:t>Local sales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4553712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Franchise earns local commission, pays 6% royalty + 1.5% network fee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68680" y="5020056"/>
            <a:ext cx="10149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13892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7A5A"/>
                </a:solidFill>
              </a:rPr>
              <a:t>Private Collection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5120640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HQ manages premium inventory; commission split 50/50 + reduced royalty on franchise half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Expected mature HQ revenue per franchise: ~$135k/year; launch year including setup: ~$100k.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01675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</a:rPr>
              <a:t>Commission assumption references: Panama sources commonly cite 5% standard sales commission; Colombia premium cases should be modeled in a 3%–5% range.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Sales OS monetizes project sales without owning every client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50-unit project at $300k/unit, Dproperty can earn from both team-sold units and network-sourced units.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71800" y="2423160"/>
            <a:ext cx="1051560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2423160"/>
            <a:ext cx="1051560" cy="0"/>
          </a:xfrm>
          <a:prstGeom prst="line">
            <a:avLst/>
          </a:prstGeom>
          <a:noFill/>
          <a:ln w="22860">
            <a:solidFill>
              <a:srgbClr val="B89B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18288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Developer project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9848" y="2514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$15M sell-out value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Dproperty-managed sales process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44568" y="2514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Training, OS, CRM discipline, broker network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Revenue capture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19288" y="2514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$135k base case per project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840480"/>
            <a:ext cx="73152" cy="1051560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$60k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0.5% on 40 developer-team sales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840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84048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$75k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931920" y="438912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2.5% on 10 Dproperty/network sales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840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840480"/>
            <a:ext cx="73152" cy="105156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$135k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12280" y="438912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total base-case revenue per project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09760" y="38404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3840480"/>
            <a:ext cx="73152" cy="1051560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39684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15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692640" y="4389120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developer projects / year by Year 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landscape: Dproperty OS is not “another CRM”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5303520"/>
            <a:ext cx="987552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97280" y="5303520"/>
            <a:ext cx="0" cy="-384048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458200" y="5413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Execution depth →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16200000">
            <a:off x="320040" y="1234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More operating / franchise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4297680"/>
            <a:ext cx="1554480" cy="502920"/>
          </a:xfrm>
          <a:prstGeom prst="roundRect">
            <a:avLst>
              <a:gd name="adj" fmla="val 36364"/>
            </a:avLst>
          </a:prstGeom>
          <a:solidFill>
            <a:srgbClr val="666666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444398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Generic CRMs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749040" y="3886200"/>
            <a:ext cx="1554480" cy="502920"/>
          </a:xfrm>
          <a:prstGeom prst="roundRect">
            <a:avLst>
              <a:gd name="adj" fmla="val 36364"/>
            </a:avLst>
          </a:prstGeom>
          <a:solidFill>
            <a:srgbClr val="1F4E79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03250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Real estate CRMs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743200" y="2514600"/>
            <a:ext cx="1554480" cy="502920"/>
          </a:xfrm>
          <a:prstGeom prst="roundRect">
            <a:avLst>
              <a:gd name="adj" fmla="val 36364"/>
            </a:avLst>
          </a:prstGeom>
          <a:solidFill>
            <a:srgbClr val="B89B5E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66090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Contract tools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1874520" cy="502920"/>
          </a:xfrm>
          <a:prstGeom prst="roundRect">
            <a:avLst>
              <a:gd name="adj" fmla="val 36364"/>
            </a:avLst>
          </a:prstGeom>
          <a:solidFill>
            <a:srgbClr val="4C7A5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15798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Premium franchises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01000" y="1417320"/>
            <a:ext cx="1920240" cy="502920"/>
          </a:xfrm>
          <a:prstGeom prst="roundRect">
            <a:avLst>
              <a:gd name="adj" fmla="val 36364"/>
            </a:avLst>
          </a:prstGeom>
          <a:solidFill>
            <a:srgbClr val="161616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56362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Dproperty OS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280160" y="5742432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1616"/>
                </a:solidFill>
              </a:rPr>
              <a:t>Dproperty combines boutique brand, franchise governance, document/projection logic, developer sales operations, and curated inventory.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280160" y="6062472"/>
            <a:ext cx="9509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66666"/>
                </a:solidFill>
              </a:rPr>
              <a:t>Benchmarks include GoHighLevel, Follow Up Boss, BoomTown, Engel &amp; Völkers, DocuSign CLM / Adobe Sign categories.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 operating method, not the software alone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Boutique brand trust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Private Collection inventory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Developer relationships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617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Broker network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49640" y="141732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600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Approved templates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242316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Projection methodology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9640" y="34290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Training academy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443484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4617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</a:rPr>
              <a:t>Performance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1234440"/>
            <a:ext cx="3657600" cy="3657600"/>
          </a:xfrm>
          <a:prstGeom prst="ellipse">
            <a:avLst/>
          </a:prstGeom>
          <a:solidFill>
            <a:srgbClr val="1F4E79">
              <a:alpha val="97000"/>
            </a:srgbClr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Dproperty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OS &amp; Network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1417320" y="55778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Every customer improves the system: more project data, more broker performance history, more templates, more benchmarks, and more network referrals.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Go-to-market: prove internally, then expand through trust networks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2331720" cy="33832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Internal 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Run Dproperty on the system first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331720" cy="31546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B5E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21608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Pilots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21608" y="3291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2 white-label + 1 developer + 1 franchise candidate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2331720" cy="29260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331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A5A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64808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Regional proof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4808" y="3520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Panama, Colombia, DR, Mexico, Miami, Spain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2286000"/>
            <a:ext cx="2331720" cy="2697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8A2A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08008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Network effects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08008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Inter-franchise referrals + shared developer inventory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Sales channels: current Dproperty relationships, developer introductions, broker networks, boutique agency referrals, and carefully selected owner-operators.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ROADMAP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Roadmap: build the machine before scaling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68880" y="1527048"/>
            <a:ext cx="822960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380744"/>
            <a:ext cx="292608" cy="29260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0–3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252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MVP design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92040" y="12527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Data model, prototype, process map, core templates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8880" y="2395728"/>
            <a:ext cx="822960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2249424"/>
            <a:ext cx="292608" cy="292608"/>
          </a:xfrm>
          <a:prstGeom prst="ellipse">
            <a:avLst/>
          </a:prstGeom>
          <a:solidFill>
            <a:srgbClr val="B89B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3–6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Internal pilot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21214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Dproperty client/deal/project/document workflows live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3264408"/>
            <a:ext cx="822960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0280" y="3118104"/>
            <a:ext cx="292608" cy="292608"/>
          </a:xfrm>
          <a:prstGeom prst="ellipse">
            <a:avLst/>
          </a:prstGeom>
          <a:solidFill>
            <a:srgbClr val="4C7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6–12 months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Commercial pilots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White-label, developer, and first franchise candidates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68880" y="4133088"/>
            <a:ext cx="822960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3986784"/>
            <a:ext cx="292608" cy="292608"/>
          </a:xfrm>
          <a:prstGeom prst="ellipse">
            <a:avLst/>
          </a:prstGeom>
          <a:solidFill>
            <a:srgbClr val="C58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86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12–24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Productize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92040" y="385876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Tenant model, training academy, dashboard suite, support processes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68880" y="5001768"/>
            <a:ext cx="822960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4855464"/>
            <a:ext cx="292608" cy="292608"/>
          </a:xfrm>
          <a:prstGeom prst="ellipse">
            <a:avLst/>
          </a:prstGeom>
          <a:solidFill>
            <a:srgbClr val="1616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24+ months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16"/>
                </a:solidFill>
              </a:rPr>
              <a:t>Scale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892040" y="472744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Regional rollout, network referrals, Private Collection expansion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Conservative five-year financial projection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334256"/>
            <a:ext cx="292608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4480560"/>
            <a:ext cx="292608" cy="498609"/>
          </a:xfrm>
          <a:prstGeom prst="rect">
            <a:avLst/>
          </a:prstGeom>
          <a:solidFill>
            <a:srgbClr val="A9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1389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Y1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91640" y="3951351"/>
            <a:ext cx="292608" cy="52920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4480560"/>
            <a:ext cx="292608" cy="165245"/>
          </a:xfrm>
          <a:prstGeom prst="rect">
            <a:avLst/>
          </a:prstGeom>
          <a:solidFill>
            <a:srgbClr val="A9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51389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Y2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51760" y="3383280"/>
            <a:ext cx="292608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8376" y="4339742"/>
            <a:ext cx="292608" cy="140818"/>
          </a:xfrm>
          <a:prstGeom prst="rect">
            <a:avLst/>
          </a:prstGeom>
          <a:solidFill>
            <a:srgbClr val="B89B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51389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Y3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11880" y="2714625"/>
            <a:ext cx="292608" cy="176593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4029369"/>
            <a:ext cx="292608" cy="451191"/>
          </a:xfrm>
          <a:prstGeom prst="rect">
            <a:avLst/>
          </a:prstGeom>
          <a:solidFill>
            <a:srgbClr val="B89B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51389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Y4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292608" cy="2651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3568119"/>
            <a:ext cx="292608" cy="912441"/>
          </a:xfrm>
          <a:prstGeom prst="rect">
            <a:avLst/>
          </a:prstGeom>
          <a:solidFill>
            <a:srgbClr val="B89B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51389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Y5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4937760" cy="0"/>
          </a:xfrm>
          <a:prstGeom prst="line">
            <a:avLst/>
          </a:prstGeom>
          <a:noFill/>
          <a:ln w="10160">
            <a:solidFill>
              <a:srgbClr val="1616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B5E"/>
                </a:solidFill>
              </a:rPr>
              <a:t>EBITDA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23444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1F4E79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3441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Year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7406640" y="13441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Revenue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8366760" y="13441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Gross Profit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372600" y="13441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OPEX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0195560" y="13441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EBITDA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400800" y="173736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84708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1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7406640" y="184708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$128k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366760" y="184708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$78k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372600" y="184708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$425k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0195560" y="184708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($347k)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400800" y="224028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3500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2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7406640" y="23500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$463k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8366760" y="23500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$288k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9372600" y="23500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$403k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10195560" y="235000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($115k)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400800" y="274320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85292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3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7406640" y="285292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$960k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8366760" y="285292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$600k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9372600" y="285292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$502k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10195560" y="285292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$98k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6400800" y="324612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3558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4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7406640" y="335584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$1.55M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8366760" y="335584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$960k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9372600" y="335584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$646k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10195560" y="335584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$314k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6400800" y="3749040"/>
            <a:ext cx="50749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5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7406640" y="38587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$2.32M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8366760" y="38587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$1.44M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9372600" y="38587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$805k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10195560" y="3858768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61616"/>
                </a:solidFill>
              </a:rPr>
              <a:t>$635k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61616"/>
                </a:solidFill>
              </a:rPr>
              <a:t>Negative Years 1–2 EBITDA is driven by upfront product, legal, training, and venture-lead costs before the customer base reaches scale.</a:t>
            </a:r>
            <a:endParaRPr lang="en-US" sz="13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venture budget: $650k over 24 months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as two tranches, not outside VC funding. Existing Dproperty owners retain control while creating a separate venture asset.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58191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Product build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581912"/>
            <a:ext cx="4096512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5544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$140k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Venture lead salary reserve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057400"/>
            <a:ext cx="4389120" cy="164592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02996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$150k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532888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Legal / franchise / templates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2532888"/>
            <a:ext cx="2340864" cy="164592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0545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$80k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008376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Training &amp; manuals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3008376"/>
            <a:ext cx="1609344" cy="164592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98094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$55k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483864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Customer success / pilots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3483864"/>
            <a:ext cx="2487168" cy="164592"/>
          </a:xfrm>
          <a:prstGeom prst="rect">
            <a:avLst/>
          </a:prstGeom>
          <a:solidFill>
            <a:srgbClr val="A94B4B"/>
          </a:solidFill>
          <a:ln w="12700">
            <a:solidFill>
              <a:srgbClr val="A94B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4564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$85k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95935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Sales / BD / travel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959352"/>
            <a:ext cx="1901952" cy="164592"/>
          </a:xfrm>
          <a:prstGeom prst="rect">
            <a:avLst/>
          </a:prstGeom>
          <a:solidFill>
            <a:srgbClr val="6C7A89"/>
          </a:solidFill>
          <a:ln w="12700">
            <a:solidFill>
              <a:srgbClr val="6C7A8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9319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$65k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Tools / admin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4434840"/>
            <a:ext cx="1755648" cy="164592"/>
          </a:xfrm>
          <a:prstGeom prst="rect">
            <a:avLst/>
          </a:prstGeom>
          <a:solidFill>
            <a:srgbClr val="8A7C68"/>
          </a:solidFill>
          <a:ln w="12700">
            <a:solidFill>
              <a:srgbClr val="8A7C6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4074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$60k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4910328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Contingency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0" y="4910328"/>
            <a:ext cx="438912" cy="16459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88289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$15k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61120" y="18288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0" y="1828800"/>
            <a:ext cx="73152" cy="960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19568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$350k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144000" y="237744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Tranche 1: MVP, legal structure, pilots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61120" y="31089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61120" y="3108960"/>
            <a:ext cx="73152" cy="96012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32369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$300k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144000" y="365760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Tranche 2: after pilot milestones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Funding covers Years 1–2 operating gap plus buffer; the model turns EBITDA-positive in Year 3.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GOVERNANCE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Governance: internal venture, founder/operator led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Dproperty Owner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Executive sponsor / operating owner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Dproperty Owner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Capital, development-company perspective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Venture Lead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Product, strategy, implementation, commercialization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23544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673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External builders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1832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</a:rPr>
              <a:t>Product, legal, design, support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65760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Owner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77640" y="365760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40%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4005072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F2EEE6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096512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Owner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409651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40%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443984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535424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Venture Lead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77640" y="453542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15% vesting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4882896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F2EEE6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974336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</a:rPr>
              <a:t>Option pool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77640" y="49743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6"/>
                </a:solidFill>
              </a:rPr>
              <a:t>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06440" y="3566160"/>
            <a:ext cx="53492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matters: budget, debt, IP, equity issuance, major partnerships, sale of company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operating review; quarterly strategy review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NewCo protects existing Dproperty while creating a scalable venture asset</a:t>
            </a:r>
            <a:endParaRPr lang="en-US" sz="12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and valuation: build a profitable platform, not a forced VC story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73152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$2.32M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Year 5 revenue base case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73152" cy="114300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$635k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Year 5 EBITDA base case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371600"/>
            <a:ext cx="73152" cy="1143000"/>
          </a:xfrm>
          <a:prstGeom prst="rect">
            <a:avLst/>
          </a:prstGeom>
          <a:solidFill>
            <a:srgbClr val="4C7A5A"/>
          </a:solidFill>
          <a:ln w="12700">
            <a:solidFill>
              <a:srgbClr val="4C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$3M–$5M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Conservative/base Year 5 enterprise value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0" y="13716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1371600"/>
            <a:ext cx="73152" cy="1143000"/>
          </a:xfrm>
          <a:prstGeom prst="rect">
            <a:avLst/>
          </a:prstGeom>
          <a:solidFill>
            <a:srgbClr val="C58A2A"/>
          </a:solidFill>
          <a:ln w="12700">
            <a:solidFill>
              <a:srgbClr val="C58A2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4996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</a:rPr>
              <a:t>$6M+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778240" y="1920240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Upside if recurring revenue quality improves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</a:rPr>
              <a:t>Strategic real estate franchise group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0632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Dproperty becomes a boutique operating platform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7216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</a:rPr>
              <a:t>PropTech / CRM / CLM buyer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37216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Acquires real-estate-specific workflow and document infrastructure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3799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</a:rPr>
              <a:t>Developer / regional sales platform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4379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Uses Dproperty OS to professionalize project sales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038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</a:rPr>
              <a:t>Cash-flow company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34840" y="503834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Profitable recurring revenue + royalties + project fees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1616"/>
                </a:solidFill>
              </a:rPr>
              <a:t>The internal-investment case does not require a sale to be attractive; a dividend/cash-flow model becomes possible after profitability and reserve targets are met.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6184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B5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636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Approve concept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51960" y="15636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Dproperty OS &amp; Network as an internal NewCo venture.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46888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70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B5E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Approve budget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6151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Commit $650k over 24 months in two tranches.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35204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721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B5E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666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Approve leadership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36667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Assign a dedicated Venture/Product Lead with salary, equity, and milestones.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57200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7731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B5E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4718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</a:rPr>
              <a:t>Approve MVP build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471830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</a:rPr>
              <a:t>Begin data model, prototype, templates, manuals, and first pilots.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</a:rPr>
              <a:t>The recommendation: start with the internal OS and pilots before building the full custom platform.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7620">
            <a:solidFill>
              <a:srgbClr val="D8D2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Dproperty OS &amp; Network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256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assumptions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698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size: Coherent Market Insights real estate software market; Fortune Business Insights PropTech market; Mordor Intelligence Latin America residential real estate.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assumptions: Panama real estate sources cite 5% as standard sales commission; Colombia should be modeled conservatively at 3%–5% depending on city and segment.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GoHighLevel: official pricing lists Pro/SaaS Mode at $497/month before usage-based costs.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Franchise benchmarks: Engel &amp; Völkers public franchise materials / Franchise Direct benchmark royalty structures.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benchmarks: Follow Up Boss pricing starts at $69/user/month; BoomTown commonly benchmarks around $1,000/month+.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616"/>
                </a:solidFill>
              </a:rPr>
              <a:t>Financial model is a planning model, not a forecast. It assumes conservative Year 5 scale: 5 branded franchises, 20 white-label agencies, and 15 developer projects/year.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Dproperty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Dproperty OS &amp; Network</dc:title>
  <dc:subject>Dproperty OS &amp; Network pitch deck</dc:subject>
  <dc:creator>OpenAI</dc:creator>
  <cp:lastModifiedBy>OpenAI</cp:lastModifiedBy>
  <cp:revision>1</cp:revision>
  <dcterms:created xsi:type="dcterms:W3CDTF">2026-06-29T13:07:22Z</dcterms:created>
  <dcterms:modified xsi:type="dcterms:W3CDTF">2026-06-29T13:07:22Z</dcterms:modified>
</cp:coreProperties>
</file>